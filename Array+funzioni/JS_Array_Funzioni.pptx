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7373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3931920" y="3657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931920" y="365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</a:rPr>
              <a:t>JavaScript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&amp; Funzioni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Corso Introduttivo · JavaScript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vedremo oggi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64008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05156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Cosa sono gli Array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Liste ordinate di elementi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01368"/>
            <a:ext cx="82296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64008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94360" y="1801368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801368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Come usare gli Array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Accesso, modifica, metodi principali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51176"/>
            <a:ext cx="82296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7200" y="2551176"/>
            <a:ext cx="64008" cy="62179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94360" y="2551176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18CF8"/>
                </a:solidFill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2551176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Cosa sono le Funzioni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Blocchi di codice riutilizzabili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00984"/>
            <a:ext cx="82296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457200" y="3300984"/>
            <a:ext cx="64008" cy="62179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94360" y="330098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18CF8"/>
                </a:solidFill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3300984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Come usare le Funzioni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Parametri, return, esempi reali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050792"/>
            <a:ext cx="82296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457200" y="4050792"/>
            <a:ext cx="64008" cy="6217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94360" y="405079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D399"/>
                </a:solidFill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405079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Esercizi pratici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Mettiamo in pratica quello che abbiamo imparato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34747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</a:rPr>
              <a:t>📦 ARRAY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Cos'è un Array?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Un array è una lista ordinata di elementi, tutti dentro una singola variabile.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</a:rPr>
              <a:t>💡 Analogia dalla vita reale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6060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Lista della spesa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Pane, Latte, Uova, Pasta...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834640"/>
            <a:ext cx="26060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291840" y="29260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91840" y="3429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Playlist musicale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749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Canzone 1, Canzone 2, ...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834640"/>
            <a:ext cx="26060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126480" y="29260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26480" y="3429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Classifica squadre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749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1°, 2°, 3°, 4°...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34747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</a:rPr>
              <a:t>📦 ARRAY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scrive un Array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199" y="1444752"/>
            <a:ext cx="411480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39" y="18971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Lista della spesa 🛒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18" y="2077132"/>
            <a:ext cx="4160521" cy="347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spesa = [</a:t>
            </a: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"Pane"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"Latte"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200" dirty="0" err="1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Uova</a:t>
            </a: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"Pasta"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Regole fondamentali: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874520"/>
            <a:ext cx="38404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▶ Le parentesi quadre [ ] contengono gli elementi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2258568"/>
            <a:ext cx="38404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937760" y="2258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▶ Ogni elemento è separato da una virgola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2642616"/>
            <a:ext cx="38404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937760" y="2642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▶ I testi vanno tra virgolette " 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026664"/>
            <a:ext cx="38404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937760" y="30266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▶ I numeri non hanno bisogno di virgolette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D34D"/>
                </a:solidFill>
              </a:rPr>
              <a:t>🔢 Gli indici partono da ZERO!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18288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270248"/>
            <a:ext cx="1828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</a:rPr>
              <a:t>indice: 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14600" y="3977640"/>
            <a:ext cx="18288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514600" y="3977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Latte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14600" y="4270248"/>
            <a:ext cx="1828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</a:rPr>
              <a:t>indice: 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3977640"/>
            <a:ext cx="18288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4572000" y="3977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Uova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4270248"/>
            <a:ext cx="1828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</a:rPr>
              <a:t>indice: 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29400" y="3977640"/>
            <a:ext cx="18288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629400" y="3977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Pasta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29400" y="4270248"/>
            <a:ext cx="1828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D34D"/>
                </a:solidFill>
              </a:rPr>
              <a:t>indice: 3</a:t>
            </a:r>
            <a:endParaRPr lang="en-US" sz="9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88EAACF9-1C82-40E6-9B77-54EBB11E37CE}"/>
              </a:ext>
            </a:extLst>
          </p:cNvPr>
          <p:cNvSpPr/>
          <p:nvPr/>
        </p:nvSpPr>
        <p:spPr>
          <a:xfrm>
            <a:off x="502918" y="2817675"/>
            <a:ext cx="4160521" cy="347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voti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34D399"/>
                </a:solidFill>
                <a:latin typeface="Consolas" pitchFamily="34" charset="0"/>
              </a:rPr>
              <a:t>5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20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732CE12C-48F9-DBB2-7497-897B6540B918}"/>
              </a:ext>
            </a:extLst>
          </p:cNvPr>
          <p:cNvSpPr/>
          <p:nvPr/>
        </p:nvSpPr>
        <p:spPr>
          <a:xfrm>
            <a:off x="502918" y="26407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Voti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34747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</a:rPr>
              <a:t>📦 ARRAY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e metodi utili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1737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Accedere agli elementi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spesa[0]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→ </a:t>
            </a: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"Pane"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spesa[1]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→ </a:t>
            </a: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"Latte"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spesa.length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→ </a:t>
            </a:r>
            <a:r>
              <a:rPr lang="en-US" sz="12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</a:p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spesa.includes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(“Latte”)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→ </a:t>
            </a:r>
            <a:r>
              <a:rPr lang="en-US" sz="12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Metodi essenziali: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393192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45720" cy="4023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892040" y="1828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.push("Burro")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2029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Aggiunge in fondo alla lista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304288"/>
            <a:ext cx="393192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754880" y="2304288"/>
            <a:ext cx="45720" cy="40233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892040" y="2304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.pop()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505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Rimuove l'ultimo elemento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779776"/>
            <a:ext cx="393192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754880" y="2779776"/>
            <a:ext cx="45720" cy="40233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892040" y="27797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.length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980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Quanti elementi ci sono?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255264"/>
            <a:ext cx="393192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754880" y="3255264"/>
            <a:ext cx="45720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892040" y="32552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.includes("Latte")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456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Controlla se esiste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9074" y="3968496"/>
            <a:ext cx="82296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57200" y="40827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🌍 Nella vita reale: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4028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Quando aggiungi una canzone alla playlist Spotify → array.push("nuova canzone")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47472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</a:rPr>
              <a:t>⚙️ FUNZIONI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Cos'è una Funzione?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</a:rPr>
              <a:t>Una funzione è un blocco di codice a cui dai un nome, che puoi richiamare ogni volta che ne hai bisogno.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</a:rPr>
              <a:t>💡 Analogia dalla vita reale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6060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☕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Ricetta del caffè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Scrivi la ricetta una volta sola, la usi ogni mattina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834640"/>
            <a:ext cx="26060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291840" y="29260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🏧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3429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Bancomat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749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Premi "Preleva", inserisci importo → ricevi soldi. Sempre uguale!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834640"/>
            <a:ext cx="26060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126480" y="29260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3429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App del telefono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749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Premi il tasto fotocamera → si apre la fotocamera. Sempre.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47472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</a:rPr>
              <a:t>⚙️ FUNZIONI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scrive una Funzione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54656" y="1426464"/>
            <a:ext cx="4114800" cy="2286000"/>
          </a:xfrm>
          <a:prstGeom prst="rect">
            <a:avLst/>
          </a:prstGeom>
          <a:solidFill>
            <a:srgbClr val="0D1117"/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94360" y="1536192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Definire la funzione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saluta(</a:t>
            </a:r>
            <a:r>
              <a:rPr lang="en-US" sz="11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</a:t>
            </a: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"Ciao, "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nome);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Richiamare la funzione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saluta(</a:t>
            </a: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"Mario"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Ciao, Mario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Anatomia di una funzione: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569CD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63640" y="18288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Parola chiave per dichiarare una funzione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2212848"/>
            <a:ext cx="39319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FCD34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846320" y="22128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saluta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63640" y="2212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Il nome che dai alla funzione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2596896"/>
            <a:ext cx="39319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846320" y="25968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63640" y="25968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Parametro: informazione che passa alla funzione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980944"/>
            <a:ext cx="39319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846320" y="29809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... }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3640" y="29809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Il corpo: le istruzioni da eseguire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364992"/>
            <a:ext cx="39319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846320" y="33649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saluta("Mario")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3640" y="33649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Come si chiama (invoca) la funzione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FCD34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40080" y="3840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CD34D"/>
                </a:solidFill>
              </a:rPr>
              <a:t>💡 Scrivi la funzione UNA volta, usala INFINITE volte — come la ricetta del caffè!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47472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</a:rPr>
              <a:t>⚙️ FUNZIONI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e return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</a:rPr>
              <a:t>📥 Parametri → informazioni in ingresso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114800" cy="164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FB923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calcola(</a:t>
            </a:r>
            <a:r>
              <a:rPr lang="en-US" sz="11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+ b;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calcola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// → 8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0" y="14173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📤 Return → valore in uscita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393192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▸ return restituisce un risultato alla funzione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2240280"/>
            <a:ext cx="393192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846320" y="2240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▸ Dopo return, la funzione si ferma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651760"/>
            <a:ext cx="393192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▸ Non tutte le funzioni hanno return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3063240"/>
            <a:ext cx="393192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846320" y="3063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▸ Con return puoi usare il risultato in altre operazioni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</a:rPr>
              <a:t>🌍 Esempio reale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Come il bancomat: dai in ingresso la tua richiesta (parametro) e lui ti restituisce i soldi (return)!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📦 ARRAY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</a:rPr>
              <a:t>✓ </a:t>
            </a:r>
            <a:r>
              <a:rPr lang="en-US" sz="1150" dirty="0">
                <a:solidFill>
                  <a:srgbClr val="FFFFFF"/>
                </a:solidFill>
              </a:rPr>
              <a:t>Lista ordinata di elementi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07568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</a:rPr>
              <a:t>✓ </a:t>
            </a:r>
            <a:r>
              <a:rPr lang="en-US" sz="1150" dirty="0">
                <a:solidFill>
                  <a:srgbClr val="FFFFFF"/>
                </a:solidFill>
              </a:rPr>
              <a:t>Si dichiara con [ ]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551176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</a:rPr>
              <a:t>✓ </a:t>
            </a:r>
            <a:r>
              <a:rPr lang="en-US" sz="1150" dirty="0">
                <a:solidFill>
                  <a:srgbClr val="FFFFFF"/>
                </a:solidFill>
              </a:rPr>
              <a:t>Gli indici partono da 0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026664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</a:rPr>
              <a:t>✓ </a:t>
            </a:r>
            <a:r>
              <a:rPr lang="en-US" sz="1150" dirty="0">
                <a:solidFill>
                  <a:srgbClr val="FFFFFF"/>
                </a:solidFill>
              </a:rPr>
              <a:t>.push() aggiunge elementi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50215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</a:rPr>
              <a:t>✓ </a:t>
            </a:r>
            <a:r>
              <a:rPr lang="en-US" sz="1150" dirty="0">
                <a:solidFill>
                  <a:srgbClr val="FFFFFF"/>
                </a:solidFill>
              </a:rPr>
              <a:t>.length dice quanti elementi ci sono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</a:rPr>
              <a:t>✓ </a:t>
            </a:r>
            <a:r>
              <a:rPr lang="en-US" sz="1150" dirty="0">
                <a:solidFill>
                  <a:srgbClr val="FFFFFF"/>
                </a:solidFill>
              </a:rPr>
              <a:t>.includes() controlla se un elemento esiste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397764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3977640" cy="4572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709160" y="1005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⚙️ FUNZIONI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160020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18CF8"/>
                </a:solidFill>
              </a:rPr>
              <a:t>✓ </a:t>
            </a:r>
            <a:r>
              <a:rPr lang="en-US" sz="1150" dirty="0">
                <a:solidFill>
                  <a:srgbClr val="FFFFFF"/>
                </a:solidFill>
              </a:rPr>
              <a:t>Blocco di codice riutilizzabile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207568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18CF8"/>
                </a:solidFill>
              </a:rPr>
              <a:t>✓ </a:t>
            </a:r>
            <a:r>
              <a:rPr lang="en-US" sz="1150" dirty="0">
                <a:solidFill>
                  <a:srgbClr val="FFFFFF"/>
                </a:solidFill>
              </a:rPr>
              <a:t>Si dichiara con function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2551176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18CF8"/>
                </a:solidFill>
              </a:rPr>
              <a:t>✓ </a:t>
            </a:r>
            <a:r>
              <a:rPr lang="en-US" sz="1150" dirty="0">
                <a:solidFill>
                  <a:srgbClr val="FFFFFF"/>
                </a:solidFill>
              </a:rPr>
              <a:t>Può ricevere parametri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3026664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18CF8"/>
                </a:solidFill>
              </a:rPr>
              <a:t>✓ </a:t>
            </a:r>
            <a:r>
              <a:rPr lang="en-US" sz="1150" dirty="0">
                <a:solidFill>
                  <a:srgbClr val="FFFFFF"/>
                </a:solidFill>
              </a:rPr>
              <a:t>return restituisce un valore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350215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18CF8"/>
                </a:solidFill>
              </a:rPr>
              <a:t>✓ </a:t>
            </a:r>
            <a:r>
              <a:rPr lang="en-US" sz="1150" dirty="0">
                <a:solidFill>
                  <a:srgbClr val="FFFFFF"/>
                </a:solidFill>
              </a:rPr>
              <a:t>Si invoca scrivendo il nome + ()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397764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18CF8"/>
                </a:solidFill>
              </a:rPr>
              <a:t>✓ </a:t>
            </a:r>
            <a:r>
              <a:rPr lang="en-US" sz="1150" dirty="0">
                <a:solidFill>
                  <a:srgbClr val="FFFFFF"/>
                </a:solidFill>
              </a:rPr>
              <a:t>Rende il codice più organizzato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✏️ ESERCIZI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— Livello Facile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" cy="1508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</a:rPr>
              <a:t>🟢 Esercizio 1 — La mia playlist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Crea un array chiamato 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playlist</a:t>
            </a:r>
            <a:r>
              <a:rPr lang="en-US" sz="1200" dirty="0">
                <a:solidFill>
                  <a:srgbClr val="FFFFFF"/>
                </a:solidFill>
              </a:rPr>
              <a:t> con 3 canzoni che ti piacciono.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Poi stampa la prima canzone della lista con 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</a:t>
            </a:r>
            <a:r>
              <a:rPr lang="en-US" sz="1200" dirty="0">
                <a:solidFill>
                  <a:srgbClr val="FFFFFF"/>
                </a:solidFill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82296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54864" cy="1508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</a:rPr>
              <a:t>🟢 Esercizio 2 — Quante materie?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Crea un array chiamato 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materie</a:t>
            </a:r>
            <a:r>
              <a:rPr lang="en-US" sz="1200" dirty="0">
                <a:solidFill>
                  <a:srgbClr val="FFFFFF"/>
                </a:solidFill>
              </a:rPr>
              <a:t> con le materie scolastiche che studi.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Usa 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.length</a:t>
            </a:r>
            <a:r>
              <a:rPr lang="en-US" sz="1200" dirty="0">
                <a:solidFill>
                  <a:srgbClr val="FFFFFF"/>
                </a:solidFill>
              </a:rPr>
              <a:t> per stampare quante materie hai scritto.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✏️ ESERCIZI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— Livello Intermedio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FCD34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" cy="16002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D34D"/>
                </a:solidFill>
              </a:rPr>
              <a:t>🟡 Esercizio 3 — Aggiungi e rimuovi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Parti da un array di 4 frutta. Aggiunge una nuova frutta con 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.push()</a:t>
            </a:r>
            <a:r>
              <a:rPr lang="en-US" sz="1200" dirty="0">
                <a:solidFill>
                  <a:srgbClr val="FFFFFF"/>
                </a:solidFill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poi rimuovi l'ultima frutta con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.pop()</a:t>
            </a:r>
            <a:r>
              <a:rPr lang="en-US" sz="1200" dirty="0">
                <a:solidFill>
                  <a:srgbClr val="FFFFFF"/>
                </a:solidFill>
              </a:rPr>
              <a:t>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Stampa l'array ad ogni passaggio per vedere cosa cambia.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822960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FCD34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54864" cy="16002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D34D"/>
                </a:solidFill>
              </a:rPr>
              <a:t>🟡 Esercizio 4 — Lista della spesa smart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Crea un array con 5 prodotti. Controlla con 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.includes()</a:t>
            </a:r>
            <a:r>
              <a:rPr lang="en-US" sz="1200" dirty="0">
                <a:solidFill>
                  <a:srgbClr val="FFFFFF"/>
                </a:solidFill>
              </a:rPr>
              <a:t> se "Latte" è nella lista.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Stampa un messaggio diverso se c'è o non c'è.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✏️ ESERCIZI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— Livello Difficile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" cy="27432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863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B923C"/>
                </a:solidFill>
              </a:rPr>
              <a:t>🔴 Esercizio 5 — Classifica scolastica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Hai un array di voti numerici: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voti = [7, 5, 9, 6, 8, 4, 10];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1. Usa un </a:t>
            </a:r>
            <a:r>
              <a:rPr lang="en-US" sz="1200" dirty="0" err="1">
                <a:solidFill>
                  <a:srgbClr val="FFFFFF"/>
                </a:solidFill>
              </a:rPr>
              <a:t>ciclo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FFFFFF"/>
                </a:solidFill>
              </a:rPr>
              <a:t> per scorrere tutti i voti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2. Per ogni voto, stampa se è "Promosso" (≥6) o "Bocciato" (&lt;6)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3. Conta quanti promossi e bocciati ci sono e stampalo alla fine</a:t>
            </a:r>
          </a:p>
        </p:txBody>
      </p:sp>
      <p:sp>
        <p:nvSpPr>
          <p:cNvPr id="8" name="Shape 6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💡 Suggerimento: usa if/else dentro il ciclo for, e due variabili contatore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</a:rPr>
              <a:t>✏️ ESERCIZI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— Livello Facile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" cy="1508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</a:rPr>
              <a:t>🟢 Esercizio 1 — Benvenuto personalizzato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Scrivi una funzione chiamata 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benvenuto(nome)</a:t>
            </a:r>
            <a:r>
              <a:rPr lang="en-US" sz="1200" dirty="0">
                <a:solidFill>
                  <a:srgbClr val="FFFFFF"/>
                </a:solidFill>
              </a:rPr>
              <a:t> che stampi: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"Ciao [nome], benvenuto nel corso!"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Chiamala 3 volte con nomi diversi.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82296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54864" cy="1508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</a:rPr>
              <a:t>🟢 Esercizio 2 — Somma semplice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Crea una funzione 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somma(a, b)</a:t>
            </a:r>
            <a:r>
              <a:rPr lang="en-US" sz="1200" dirty="0">
                <a:solidFill>
                  <a:srgbClr val="FFFFFF"/>
                </a:solidFill>
              </a:rPr>
              <a:t> che riceva due numeri e restituisca la loro somma con </a:t>
            </a: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FFFFFF"/>
                </a:solidFill>
              </a:rPr>
              <a:t>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Stampa il risultato di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somma(5, 7)</a:t>
            </a:r>
            <a:r>
              <a:rPr lang="en-US" sz="1200" dirty="0">
                <a:solidFill>
                  <a:srgbClr val="FFFFFF"/>
                </a:solidFill>
              </a:rPr>
              <a:t> e 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somma(100, 23)</a:t>
            </a:r>
            <a:r>
              <a:rPr lang="en-US" sz="1200" dirty="0">
                <a:solidFill>
                  <a:srgbClr val="FFFFFF"/>
                </a:solidFill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</a:rPr>
              <a:t>✏️ ESERCIZI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— Livello Intermedio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FCD34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" cy="16002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D34D"/>
                </a:solidFill>
              </a:rPr>
              <a:t>🟡 Esercizio 3 — Maggiore/Minore età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Scrivi una funzione 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controllaEta(eta)</a:t>
            </a:r>
            <a:r>
              <a:rPr lang="en-US" sz="1200" dirty="0">
                <a:solidFill>
                  <a:srgbClr val="FFFFFF"/>
                </a:solidFill>
              </a:rPr>
              <a:t> che riceva un numero e ritorni: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-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"Maggiorenne"</a:t>
            </a:r>
            <a:r>
              <a:rPr lang="en-US" sz="1200" dirty="0">
                <a:solidFill>
                  <a:srgbClr val="FFFFFF"/>
                </a:solidFill>
              </a:rPr>
              <a:t> se l'età è &gt;= 18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-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"Minorenne"</a:t>
            </a:r>
            <a:r>
              <a:rPr lang="en-US" sz="1200" dirty="0">
                <a:solidFill>
                  <a:srgbClr val="FFFFFF"/>
                </a:solidFill>
              </a:rPr>
              <a:t> altrimenti. Testala con 3 valori diversi.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822960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FCD34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54864" cy="16002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D34D"/>
                </a:solidFill>
              </a:rPr>
              <a:t>🟡 Esercizio 4 — Calcolatore prezzo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Crea una funzione 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calcolaSconto(prezzo, percentuale)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che riceva un prezzo e una percentuale di sconto, e ritorni il prezzo finale scontato.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Prova con: prezzo=100, sconto=20%.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</a:rPr>
              <a:t>✏️ ESERCIZI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— Livello Difficile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" cy="31089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B923C"/>
                </a:solidFill>
              </a:rPr>
              <a:t>🔴 Esercizio 5 — Gestione carrello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Crea un array vuoto chiamato </a:t>
            </a: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carrello</a:t>
            </a:r>
            <a:r>
              <a:rPr lang="en-US" sz="1200" dirty="0">
                <a:solidFill>
                  <a:srgbClr val="FFFFFF"/>
                </a:solidFill>
              </a:rPr>
              <a:t>, poi scrivi queste funzioni:</a:t>
            </a:r>
            <a:endParaRPr lang="en-US" sz="1500" dirty="0"/>
          </a:p>
          <a:p>
            <a:pPr marL="0" indent="0">
              <a:buNone/>
            </a:pPr>
            <a:r>
              <a:rPr lang="en-US" sz="600" dirty="0">
                <a:solidFill>
                  <a:srgbClr val="FFFFFF"/>
                </a:solidFill>
              </a:rPr>
              <a:t>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aggiungiProdotto(nome)</a:t>
            </a:r>
            <a:r>
              <a:rPr lang="en-US" sz="1200" dirty="0">
                <a:solidFill>
                  <a:srgbClr val="FFFFFF"/>
                </a:solidFill>
              </a:rPr>
              <a:t> → aggiunge al carrello e stampa la lista aggiornata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rimuoviProdotto(nome)</a:t>
            </a:r>
            <a:r>
              <a:rPr lang="en-US" sz="1200" dirty="0">
                <a:solidFill>
                  <a:srgbClr val="FFFFFF"/>
                </a:solidFill>
              </a:rPr>
              <a:t> → rimuove se esiste, altrimenti stampa messaggio di errore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contaProdotti()</a:t>
            </a:r>
            <a:r>
              <a:rPr lang="en-US" sz="1200" dirty="0">
                <a:solidFill>
                  <a:srgbClr val="FFFFFF"/>
                </a:solidFill>
              </a:rPr>
              <a:t> → ritorna il numero di prodotti nel carrello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Testale aggiungendo 3 prodotti, rimuovendone 1, e stampando quanti ne rimangono.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💡 Suggerimento: usa indexOf() e splice() per rimuovere un elemento specifico dall'array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200400" cy="32004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315200" y="-457200"/>
            <a:ext cx="3657600" cy="3657600"/>
          </a:xfrm>
          <a:prstGeom prst="ellipse">
            <a:avLst/>
          </a:prstGeom>
          <a:solidFill>
            <a:srgbClr val="818CF8">
              <a:alpha val="10000"/>
            </a:srgbClr>
          </a:solidFill>
          <a:ln w="12700">
            <a:solidFill>
              <a:srgbClr val="818CF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Ottimo lavoro! 🚀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4A3B8"/>
                </a:solidFill>
              </a:rPr>
              <a:t>Ora conosci le basi degli Array e delle Funzioni in JavaScript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4688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</a:rPr>
              <a:t>Array = lista ordinata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743200"/>
            <a:ext cx="24688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474720" y="2788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7472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</a:rPr>
              <a:t>Funzione = codice riutilizzabile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743200"/>
            <a:ext cx="24688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217920" y="2788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Pratica ogni giorno!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</a:rPr>
              <a:t>Buona fortuna con gli esercizi! 🎯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1251</Words>
  <Application>Microsoft Office PowerPoint</Application>
  <PresentationFormat>Presentazione su schermo (16:9)</PresentationFormat>
  <Paragraphs>221</Paragraphs>
  <Slides>16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 e Funzioni in JavaScript</dc:title>
  <dc:subject>PptxGenJS Presentation</dc:subject>
  <dc:creator>PptxGenJS</dc:creator>
  <cp:lastModifiedBy>Mattia Bressan</cp:lastModifiedBy>
  <cp:revision>2</cp:revision>
  <dcterms:created xsi:type="dcterms:W3CDTF">2026-04-29T07:32:50Z</dcterms:created>
  <dcterms:modified xsi:type="dcterms:W3CDTF">2026-04-29T10:26:12Z</dcterms:modified>
</cp:coreProperties>
</file>